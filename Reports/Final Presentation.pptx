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79" r:id="rId2"/>
    <p:sldId id="258" r:id="rId3"/>
    <p:sldId id="273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75" r:id="rId12"/>
    <p:sldId id="265" r:id="rId13"/>
    <p:sldId id="257" r:id="rId14"/>
    <p:sldId id="267" r:id="rId15"/>
    <p:sldId id="266" r:id="rId16"/>
    <p:sldId id="269" r:id="rId17"/>
    <p:sldId id="268" r:id="rId18"/>
    <p:sldId id="271" r:id="rId19"/>
    <p:sldId id="276" r:id="rId20"/>
    <p:sldId id="270" r:id="rId21"/>
    <p:sldId id="280" r:id="rId22"/>
    <p:sldId id="272" r:id="rId23"/>
    <p:sldId id="277" r:id="rId24"/>
    <p:sldId id="282" r:id="rId25"/>
    <p:sldId id="283" r:id="rId26"/>
    <p:sldId id="278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C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vs Actual User Age Groups Matching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9071-4E87-8D6E-B53046337DCC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071-4E87-8D6E-B53046337D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381-4350-B92C-E2F9EAB79FD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F381-4350-B92C-E2F9EAB79FD9}"/>
              </c:ext>
            </c:extLst>
          </c:dPt>
          <c:dLbls>
            <c:dLbl>
              <c:idx val="0"/>
              <c:layout>
                <c:manualLayout>
                  <c:x val="-0.25841417970901787"/>
                  <c:y val="-0.19770353197357984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B57FC48-9C31-4AAD-90AD-5EC96621271A}" type="PERCENTAGE">
                      <a:rPr lang="en-US" sz="1400" smtClean="0"/>
                      <a:pPr>
                        <a:defRPr sz="1400"/>
                      </a:pPr>
                      <a:t>[PERCENTAGE]</a:t>
                    </a:fld>
                    <a:r>
                      <a:rPr lang="en-US" sz="1400" dirty="0"/>
                      <a:t> Mismatch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33119471177213"/>
                      <c:h val="9.7444807237216546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071-4E87-8D6E-B53046337DCC}"/>
                </c:ext>
              </c:extLst>
            </c:dLbl>
            <c:dLbl>
              <c:idx val="1"/>
              <c:layout>
                <c:manualLayout>
                  <c:x val="0.15141813291857031"/>
                  <c:y val="0.19171245867279796"/>
                </c:manualLayout>
              </c:layout>
              <c:tx>
                <c:rich>
                  <a:bodyPr/>
                  <a:lstStyle/>
                  <a:p>
                    <a:fld id="{93415587-4057-4AF3-B094-45C0DA8F65A1}" type="PERCENTAGE">
                      <a:rPr lang="en-US" smtClean="0"/>
                      <a:pPr/>
                      <a:t>[PERCENTAGE]</a:t>
                    </a:fld>
                    <a:r>
                      <a:rPr lang="en-US" dirty="0"/>
                      <a:t> Matching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071-4E87-8D6E-B53046337D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Mismatch</c:v>
                </c:pt>
                <c:pt idx="1">
                  <c:v>Matching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0.78</c:v>
                </c:pt>
                <c:pt idx="1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1-4E87-8D6E-B53046337DC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0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6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0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9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9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0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7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5792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27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1764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51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8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784A0-1724-4016-B907-CE4125CFA757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5CE444-DFC4-4887-8FEC-2A84CA7E5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6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AE5450-9B9B-9ED1-E1D0-BE1837A86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505" y="3343156"/>
            <a:ext cx="2636290" cy="2044732"/>
          </a:xfrm>
          <a:prstGeom prst="rect">
            <a:avLst/>
          </a:prstGeom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97E07E-F2EA-4A2B-D9BE-8288AAD39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4982" y="1206631"/>
            <a:ext cx="5015059" cy="1468284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The Blueprint for </a:t>
            </a:r>
            <a:b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Smarter Advertising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E7D86-AF3C-F4A3-8EF6-988CFD08A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4982" y="2674915"/>
            <a:ext cx="4722830" cy="625204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24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Driving Cost Efficiency in Digital Advertising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DB8B2-0002-A0CE-78BC-99A42B2359AC}"/>
              </a:ext>
            </a:extLst>
          </p:cNvPr>
          <p:cNvSpPr txBox="1"/>
          <p:nvPr/>
        </p:nvSpPr>
        <p:spPr>
          <a:xfrm>
            <a:off x="5044911" y="5520866"/>
            <a:ext cx="174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Prepared by:</a:t>
            </a:r>
          </a:p>
          <a:p>
            <a:r>
              <a:rPr lang="en-US" sz="1600" i="1" dirty="0" err="1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Jiahong</a:t>
            </a:r>
            <a:r>
              <a:rPr lang="en-US" sz="1600" i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Zhuo</a:t>
            </a:r>
          </a:p>
        </p:txBody>
      </p:sp>
    </p:spTree>
    <p:extLst>
      <p:ext uri="{BB962C8B-B14F-4D97-AF65-F5344CB8AC3E}">
        <p14:creationId xmlns:p14="http://schemas.microsoft.com/office/powerpoint/2010/main" val="137352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0DA8-4009-900B-33B1-18B5A1CA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218"/>
            <a:ext cx="12191999" cy="82369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Table of Chapters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118232-125D-1E38-7516-95724C4DD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8033"/>
            <a:ext cx="10515600" cy="4801810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1: Overview &amp; Problem Statement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2: Data Sources &amp; Methodology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3: Data Analysis &amp; Insights 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4: Predictive Modeling &amp; Interactive Demo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5: Model Assumptions &amp; Limitations </a:t>
            </a:r>
          </a:p>
          <a:p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 6: Recommendations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72246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894995-59C8-5334-29A5-2457667F1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7212" y="2074470"/>
            <a:ext cx="6268825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1: Overview &amp; </a:t>
            </a:r>
            <a:b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Problem Statement</a:t>
            </a:r>
            <a:br>
              <a:rPr lang="en-US" sz="4400" b="1" dirty="0"/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986644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4A6F-E18A-DC00-2D6E-639EAAE7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71408" cy="89806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AE0DF-4EB0-2578-92BF-32FA9BEB3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872" y="1555423"/>
            <a:ext cx="5181600" cy="46215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Annie Chen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Senior Marketing </a:t>
            </a:r>
          </a:p>
          <a:p>
            <a:pPr marL="0" indent="0" algn="ctr">
              <a:buNone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Manager, Apple Inc.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02DB8F-316A-8CD4-2FA4-A41C65328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3532" y="1555423"/>
            <a:ext cx="5181600" cy="46215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John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, Data Analytics Manager, </a:t>
            </a:r>
          </a:p>
          <a:p>
            <a:pPr marL="0" indent="0" algn="ctr">
              <a:buNone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D Advertising Pte Ltd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A0AF8D-DBB9-E8BE-5A7E-DFA12ACDF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62" y="2620603"/>
            <a:ext cx="3318019" cy="2747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EA20C-38F6-9139-134B-CA3F73E6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24" y="2686593"/>
            <a:ext cx="3088015" cy="268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1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D865EA-E831-DEAE-7723-CC44B6C0E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Problem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926BF-640A-4F20-A941-FFA0BC3EB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5223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Apple is spending heavily in digital advertising for its products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Want to increase its cost efficiency for digital advertising budget</a:t>
            </a:r>
          </a:p>
        </p:txBody>
      </p:sp>
    </p:spTree>
    <p:extLst>
      <p:ext uri="{BB962C8B-B14F-4D97-AF65-F5344CB8AC3E}">
        <p14:creationId xmlns:p14="http://schemas.microsoft.com/office/powerpoint/2010/main" val="370446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AAED-B7D8-E0FF-5693-F2F4345F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0193" y="336845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Do you know the difference?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0EFC-3F3B-1599-29FE-79347FC4D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9885"/>
            <a:ext cx="10515600" cy="403707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Increasing Cost Efficiency </a:t>
            </a:r>
          </a:p>
          <a:p>
            <a:endParaRPr lang="en-US" sz="2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800" dirty="0">
                <a:latin typeface="Calibri Light" panose="020F0302020204030204" pitchFamily="34" charset="0"/>
                <a:cs typeface="Calibri Light" panose="020F0302020204030204" pitchFamily="34" charset="0"/>
              </a:rPr>
              <a:t>Minimizing Cost </a:t>
            </a:r>
          </a:p>
        </p:txBody>
      </p:sp>
    </p:spTree>
    <p:extLst>
      <p:ext uri="{BB962C8B-B14F-4D97-AF65-F5344CB8AC3E}">
        <p14:creationId xmlns:p14="http://schemas.microsoft.com/office/powerpoint/2010/main" val="86350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A4F3-3757-38CF-BA3C-B3F839C4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1C96-2DB1-75B3-308F-B01744240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Achieve at least 10% increase in expected online purchase of Apple products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Achieve 20% decrease in cost per acquisition/purchase (CPA) 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Assume advertising budget unchanged</a:t>
            </a:r>
          </a:p>
        </p:txBody>
      </p:sp>
    </p:spTree>
    <p:extLst>
      <p:ext uri="{BB962C8B-B14F-4D97-AF65-F5344CB8AC3E}">
        <p14:creationId xmlns:p14="http://schemas.microsoft.com/office/powerpoint/2010/main" val="306024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CFB5B6-D483-1063-3403-A154F0B14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761" y="2542716"/>
            <a:ext cx="10515600" cy="1325563"/>
          </a:xfrm>
        </p:spPr>
        <p:txBody>
          <a:bodyPr/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2: Data Sources &amp; Methodology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139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C7B-244A-7CD1-E638-0CEB41A8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C2CBA-59C7-F8B7-C5E0-BAC0E3DE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Fictitious digital advertising Kaggle dataset (May - Aug 2025)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Ad campaigns spend &amp; event types from social media platforms, no revenue data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Cleaned &amp; removed duplicate records (approx. 1%)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Created metrics: CPA, Conversion Rate (CR), Click-Through Rate (CTR) </a:t>
            </a:r>
          </a:p>
        </p:txBody>
      </p:sp>
    </p:spTree>
    <p:extLst>
      <p:ext uri="{BB962C8B-B14F-4D97-AF65-F5344CB8AC3E}">
        <p14:creationId xmlns:p14="http://schemas.microsoft.com/office/powerpoint/2010/main" val="20468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0DDC-3461-51A0-2DE7-9CA24419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3D8C-C108-AE91-0ACE-1C25CD704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Exploratory Data Analysis to identify trends, inefficiencies &amp; outliers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Predictive Modeling (Comparing Logistic Regression vs Light GBM) to predict purchase/conversion probabilities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Tableau Visualization for Dashboard</a:t>
            </a:r>
          </a:p>
        </p:txBody>
      </p:sp>
    </p:spTree>
    <p:extLst>
      <p:ext uri="{BB962C8B-B14F-4D97-AF65-F5344CB8AC3E}">
        <p14:creationId xmlns:p14="http://schemas.microsoft.com/office/powerpoint/2010/main" val="179153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09CA-8F38-B8F1-A29B-B3F9F2AE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870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3: Data Analysis &amp; Insights </a:t>
            </a: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4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39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AE74-BF99-0CB6-69E2-C012D801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1" y="131975"/>
            <a:ext cx="9464512" cy="76276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Analysis: Conversion Rate &amp; Ad Impressions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D5DDCB-61AA-43B3-FB52-4E0DD7E26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5" b="6107"/>
          <a:stretch>
            <a:fillRect/>
          </a:stretch>
        </p:blipFill>
        <p:spPr>
          <a:xfrm>
            <a:off x="4656841" y="1800520"/>
            <a:ext cx="4617334" cy="380842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85024-B76B-5F56-BA3F-20610792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1569" y="1517715"/>
            <a:ext cx="3932237" cy="439840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Stable Ad Conversion Rate (3-6%) at all levels of impressions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 scaling is ineffective </a:t>
            </a:r>
            <a:r>
              <a:rPr lang="en-US" sz="22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 conversion rate doesn’t increase with impressions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Apple should </a:t>
            </a:r>
            <a:r>
              <a:rPr lang="en-US" sz="2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increase cost efficiency at current budget</a:t>
            </a: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, instead of increase ad budget</a:t>
            </a:r>
          </a:p>
        </p:txBody>
      </p:sp>
    </p:spTree>
    <p:extLst>
      <p:ext uri="{BB962C8B-B14F-4D97-AF65-F5344CB8AC3E}">
        <p14:creationId xmlns:p14="http://schemas.microsoft.com/office/powerpoint/2010/main" val="85805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BDD7-3F57-FA8D-5790-50C49E82E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7200"/>
            <a:ext cx="9096866" cy="564029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Analysis: Low Purchase Rate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F1D557-9738-450F-E3C8-BC8468511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2"/>
          <a:stretch>
            <a:fillRect/>
          </a:stretch>
        </p:blipFill>
        <p:spPr>
          <a:xfrm>
            <a:off x="4760913" y="1839143"/>
            <a:ext cx="4513262" cy="3605639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31D641A-2E86-35CA-C493-AA1A3DB92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6984" y="1633194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Very low purchase rate (0.5%) 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as compared to industry of 2-4%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Affect prediction modeling performance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In-depth research to find out cause &amp; increase it</a:t>
            </a:r>
          </a:p>
        </p:txBody>
      </p:sp>
    </p:spTree>
    <p:extLst>
      <p:ext uri="{BB962C8B-B14F-4D97-AF65-F5344CB8AC3E}">
        <p14:creationId xmlns:p14="http://schemas.microsoft.com/office/powerpoint/2010/main" val="2674948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9D20-118D-391B-F04D-4F404252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410"/>
            <a:ext cx="9370243" cy="824845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Analysis: Target vs Actual Users’ Age Group Segments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B54727C-5886-7FEC-041C-44030C59D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6998537"/>
              </p:ext>
            </p:extLst>
          </p:nvPr>
        </p:nvGraphicFramePr>
        <p:xfrm>
          <a:off x="4892511" y="1842073"/>
          <a:ext cx="5671025" cy="3811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60F2D-F9E4-5253-5ABD-0FB05E553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1771" y="1842073"/>
            <a:ext cx="4574374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High actual-target user age group </a:t>
            </a:r>
            <a:r>
              <a:rPr lang="en-US" sz="2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mismatch at 78%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Ineffective Age Group Targeting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Improve on user data validation process to reduce mismatch </a:t>
            </a:r>
          </a:p>
        </p:txBody>
      </p:sp>
    </p:spTree>
    <p:extLst>
      <p:ext uri="{BB962C8B-B14F-4D97-AF65-F5344CB8AC3E}">
        <p14:creationId xmlns:p14="http://schemas.microsoft.com/office/powerpoint/2010/main" val="2863650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05C1-22DA-B549-58BB-D5E5EED7F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55085" cy="90026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Analysis: Relative CPA &amp; Advertisement Type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D8A32B2-2C0B-2C94-ACA6-99E10C948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8"/>
          <a:stretch>
            <a:fillRect/>
          </a:stretch>
        </p:blipFill>
        <p:spPr>
          <a:xfrm>
            <a:off x="4477732" y="1395168"/>
            <a:ext cx="4796443" cy="436461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C7364-1720-6DB8-F545-9BDD4A8FA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057" y="1395168"/>
            <a:ext cx="4128138" cy="507869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Image &amp; Video have higher relative CPA compared to Carousel &amp; Stories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Ad Type Median CPA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Re-allocate budget from Image &amp; Video to Carousel &amp; Stories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Cost Efficiency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6A47CBBE-F433-BAC0-B279-873D98163BAA}"/>
              </a:ext>
            </a:extLst>
          </p:cNvPr>
          <p:cNvSpPr/>
          <p:nvPr/>
        </p:nvSpPr>
        <p:spPr>
          <a:xfrm>
            <a:off x="2064870" y="4864230"/>
            <a:ext cx="320512" cy="405353"/>
          </a:xfrm>
          <a:prstGeom prst="upArrow">
            <a:avLst/>
          </a:prstGeom>
          <a:ln>
            <a:solidFill>
              <a:srgbClr val="2FC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84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5D43-0914-4A94-7736-6858C664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812"/>
            <a:ext cx="8728363" cy="758856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Analysis: Countries &amp; CTR, CR &amp; CPA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D21995C-FF8E-B9D0-0B04-88BFBEB92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65"/>
          <a:stretch>
            <a:fillRect/>
          </a:stretch>
        </p:blipFill>
        <p:spPr>
          <a:xfrm>
            <a:off x="4901939" y="1190706"/>
            <a:ext cx="3628462" cy="494587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AEAC3-01A7-BA43-56D1-07BE649ED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3592" y="1255092"/>
            <a:ext cx="3932237" cy="494587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High Cost, Low Purchase Countries: Australia, Brazil</a:t>
            </a:r>
          </a:p>
          <a:p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Low Cost, High Purchase Countries: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High Cost, High Purchase Country: Japan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Reduce allocation to Australia, Brazil, increase exposure to India</a:t>
            </a:r>
          </a:p>
        </p:txBody>
      </p:sp>
    </p:spTree>
    <p:extLst>
      <p:ext uri="{BB962C8B-B14F-4D97-AF65-F5344CB8AC3E}">
        <p14:creationId xmlns:p14="http://schemas.microsoft.com/office/powerpoint/2010/main" val="1570103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F898-1848-35EF-FBB1-A7AFDA22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74" y="337197"/>
            <a:ext cx="8530455" cy="67401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Correlation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FAAB50-F582-3096-C464-89A3829D0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0685" y="1310015"/>
            <a:ext cx="5064503" cy="28468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3CA07-61C8-CC79-C144-FE6581E37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4753" y="1410084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Very low correlations among features, &amp; with Purchase Rate (Target Variable)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Due to low purchase rate (0.5%)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No Multicollinearity issue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4E98E-EE57-7E5A-9469-9F55C9A7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90" y="4455712"/>
            <a:ext cx="4052050" cy="153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53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2311ECC-217A-3D9D-7282-F4463396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429"/>
            <a:ext cx="8559538" cy="7189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Summary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607224AD-7011-A8C4-DECA-8A5A78436DF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2"/>
          <a:stretch>
            <a:fillRect/>
          </a:stretch>
        </p:blipFill>
        <p:spPr>
          <a:xfrm>
            <a:off x="382344" y="1006511"/>
            <a:ext cx="8346877" cy="490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3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4105-B6F3-AA54-27EF-A9D9770BE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37" y="2613581"/>
            <a:ext cx="8305015" cy="2102177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4: Predictive Modeling &amp; Demo</a:t>
            </a: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4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940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A74F-F4F2-AA50-842E-F0152F45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025"/>
            <a:ext cx="9134573" cy="77771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Comparison of 2 Predictive Models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B263BA-52D8-73C3-6AB9-E22DA01D0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811813"/>
              </p:ext>
            </p:extLst>
          </p:nvPr>
        </p:nvGraphicFramePr>
        <p:xfrm>
          <a:off x="509047" y="1151002"/>
          <a:ext cx="8342724" cy="4174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864">
                  <a:extLst>
                    <a:ext uri="{9D8B030D-6E8A-4147-A177-3AD203B41FA5}">
                      <a16:colId xmlns:a16="http://schemas.microsoft.com/office/drawing/2014/main" val="1611384303"/>
                    </a:ext>
                  </a:extLst>
                </a:gridCol>
                <a:gridCol w="2363071">
                  <a:extLst>
                    <a:ext uri="{9D8B030D-6E8A-4147-A177-3AD203B41FA5}">
                      <a16:colId xmlns:a16="http://schemas.microsoft.com/office/drawing/2014/main" val="3744221295"/>
                    </a:ext>
                  </a:extLst>
                </a:gridCol>
                <a:gridCol w="2351234">
                  <a:extLst>
                    <a:ext uri="{9D8B030D-6E8A-4147-A177-3AD203B41FA5}">
                      <a16:colId xmlns:a16="http://schemas.microsoft.com/office/drawing/2014/main" val="1316805734"/>
                    </a:ext>
                  </a:extLst>
                </a:gridCol>
                <a:gridCol w="2129555">
                  <a:extLst>
                    <a:ext uri="{9D8B030D-6E8A-4147-A177-3AD203B41FA5}">
                      <a16:colId xmlns:a16="http://schemas.microsoft.com/office/drawing/2014/main" val="1327912613"/>
                    </a:ext>
                  </a:extLst>
                </a:gridCol>
              </a:tblGrid>
              <a:tr h="460982"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Logistic Regression (Log 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Light GBM (LG)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Winner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044576"/>
                  </a:ext>
                </a:extLst>
              </a:tr>
              <a:tr h="92157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Ease of Interpretation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Very Easy 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(Coefficients shows features’ impact)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Difficult 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(features’ importance is indirect)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 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697288"/>
                  </a:ext>
                </a:extLst>
              </a:tr>
              <a:tr h="86255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Speed</a:t>
                      </a:r>
                    </a:p>
                    <a:p>
                      <a:pPr algn="l"/>
                      <a:endParaRPr lang="en-US" sz="1600" b="1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Fast to train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Fast to train (requires hyperparameters tuning)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869440"/>
                  </a:ext>
                </a:extLst>
              </a:tr>
              <a:tr h="86255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Data Suitability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Small to Medium Datasets 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(&lt;1m observations)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Large Datasets 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(&gt; 1m observations)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 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721199"/>
                  </a:ext>
                </a:extLst>
              </a:tr>
              <a:tr h="1047214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Mid Precision (0.5)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Mid Recall (0.53)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Mid F1 Score (0.33)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Low Precision (0.01)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High Recall (0.96)</a:t>
                      </a:r>
                    </a:p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Low F1 Score (0.01)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Log R due to more balanced, lesser budget wastage (false positives)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102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0885A4-2FAE-EAB0-5882-5902DA3E8A1C}"/>
              </a:ext>
            </a:extLst>
          </p:cNvPr>
          <p:cNvSpPr txBox="1"/>
          <p:nvPr/>
        </p:nvSpPr>
        <p:spPr>
          <a:xfrm>
            <a:off x="705437" y="5842265"/>
            <a:ext cx="6730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Predictive Model Chosen: </a:t>
            </a:r>
            <a:r>
              <a:rPr 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Logistic Regression </a:t>
            </a:r>
          </a:p>
        </p:txBody>
      </p:sp>
    </p:spTree>
    <p:extLst>
      <p:ext uri="{BB962C8B-B14F-4D97-AF65-F5344CB8AC3E}">
        <p14:creationId xmlns:p14="http://schemas.microsoft.com/office/powerpoint/2010/main" val="277508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0331-06B2-E8B2-543B-DE7EB60A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258435"/>
            <a:ext cx="7512360" cy="73057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Predicted Results by Countries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3075BF-B8F4-D22E-9667-33E23A005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4643" y="1409463"/>
            <a:ext cx="4651252" cy="416256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DA91C-7B87-0558-361A-2D1C258AE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1542" y="1532954"/>
            <a:ext cx="4013641" cy="4039074"/>
          </a:xfrm>
        </p:spPr>
        <p:txBody>
          <a:bodyPr>
            <a:normAutofit fontScale="40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500" dirty="0">
                <a:latin typeface="Calibri Light" panose="020F0302020204030204" pitchFamily="34" charset="0"/>
                <a:cs typeface="Calibri Light" panose="020F0302020204030204" pitchFamily="34" charset="0"/>
              </a:rPr>
              <a:t>Countries &amp; CPA have strongest impact on Purchase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5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500" dirty="0">
                <a:latin typeface="Calibri Light" panose="020F0302020204030204" pitchFamily="34" charset="0"/>
                <a:cs typeface="Calibri Light" panose="020F0302020204030204" pitchFamily="34" charset="0"/>
              </a:rPr>
              <a:t>Lowest Purchase &amp; Highest CPA: France &amp; Japan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5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500" dirty="0">
                <a:latin typeface="Calibri Light" panose="020F0302020204030204" pitchFamily="34" charset="0"/>
                <a:cs typeface="Calibri Light" panose="020F0302020204030204" pitchFamily="34" charset="0"/>
              </a:rPr>
              <a:t>Highest Purchase &amp; Lowest CPA: United States &amp; United Kingdom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556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AFC02D-84F3-A716-C2C4-09FBBDC0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47" y="2570997"/>
            <a:ext cx="9605912" cy="20858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Demo on Predicting Cost of Acquisition (CPA)</a:t>
            </a: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CPA Prediction</a:t>
            </a:r>
            <a:endParaRPr lang="en-US" sz="4400" b="1" dirty="0">
              <a:solidFill>
                <a:schemeClr val="tx1">
                  <a:lumMod val="50000"/>
                  <a:lumOff val="5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538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C44D-F40E-4BA0-E070-C551490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18131"/>
            <a:ext cx="953992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5: Model Assumptions &amp; Limitations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0192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73FB2-CF2F-DE36-D8C6-2131BD8E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806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73667-7915-45ED-5673-6DBC4FEA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35738" cy="358536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Online users’ behavior patterns are representative of real world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Market conditions remain unchanged 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Purchase variable is linearly related to features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Features are independent of each other</a:t>
            </a:r>
          </a:p>
        </p:txBody>
      </p:sp>
    </p:spTree>
    <p:extLst>
      <p:ext uri="{BB962C8B-B14F-4D97-AF65-F5344CB8AC3E}">
        <p14:creationId xmlns:p14="http://schemas.microsoft.com/office/powerpoint/2010/main" val="2988052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8489-39C8-454B-FCE2-0EF672D4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86946" cy="87921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332F3-345F-EA63-F6FA-31043C797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8701726" cy="455555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Low purchase rate (0.5%)        model accuracy, predictions less reliable</a:t>
            </a:r>
          </a:p>
          <a:p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4-month time period restricts visibility of seasonal or long-term digital ad trends</a:t>
            </a:r>
          </a:p>
          <a:p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Absence of ad revenue data restricts digital advertising analysis</a:t>
            </a:r>
          </a:p>
          <a:p>
            <a:endParaRPr lang="en-US" sz="2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200" dirty="0">
                <a:latin typeface="Calibri Light" panose="020F0302020204030204" pitchFamily="34" charset="0"/>
                <a:cs typeface="Calibri Light" panose="020F0302020204030204" pitchFamily="34" charset="0"/>
              </a:rPr>
              <a:t>High mismatch of actual-target group segment hinders age group segment analysis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2097408-4BF3-23E8-B662-2B4029108E37}"/>
              </a:ext>
            </a:extLst>
          </p:cNvPr>
          <p:cNvSpPr/>
          <p:nvPr/>
        </p:nvSpPr>
        <p:spPr>
          <a:xfrm>
            <a:off x="4232634" y="1621410"/>
            <a:ext cx="282805" cy="452487"/>
          </a:xfrm>
          <a:prstGeom prst="downArrow">
            <a:avLst/>
          </a:prstGeom>
          <a:ln>
            <a:solidFill>
              <a:srgbClr val="2FC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92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1C4A-04DF-8FEA-F442-238CE3DA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581" y="2533290"/>
            <a:ext cx="7362334" cy="1325563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Chapter 6: Recommendations &amp; </a:t>
            </a: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Next Steps</a:t>
            </a:r>
            <a:b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4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99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BC5B-6347-E017-E512-E4BDFE6E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E1AD3-33DB-8BC9-74FE-507E0EB39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Re-allocate 20% digital ad spend from Image to Carousel &amp; Stories ad types, result in 18%        in expected number of purchases</a:t>
            </a:r>
          </a:p>
          <a:p>
            <a:pPr marL="0" indent="0">
              <a:buNone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Re-allocate their digital ad budget from high CPA cost countries (France) to low-cost countries (United States &amp; India). CPA expected to      more than 50%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D47B9877-8CD3-3E8F-B8C9-9D479EA0A2EF}"/>
              </a:ext>
            </a:extLst>
          </p:cNvPr>
          <p:cNvSpPr/>
          <p:nvPr/>
        </p:nvSpPr>
        <p:spPr>
          <a:xfrm>
            <a:off x="3978110" y="2557405"/>
            <a:ext cx="320511" cy="4308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0686C3A3-C3EC-5EF4-92A6-279B5376E3AF}"/>
              </a:ext>
            </a:extLst>
          </p:cNvPr>
          <p:cNvSpPr/>
          <p:nvPr/>
        </p:nvSpPr>
        <p:spPr>
          <a:xfrm>
            <a:off x="2616339" y="4308049"/>
            <a:ext cx="301659" cy="4807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46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6DAB-CF43-BF31-7A36-FE18088E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 &amp; Model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67DC-EC5D-42B1-5E3A-A1174B1F5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Ad revenue data should be included for comprehensive analysis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Longer period data for seasonal trend analysis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User target group data validation process should be improved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In-depth tuning of Light GBM hyper-parameters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978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97A9-2B37-88A6-29BE-DBB25ADD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639FE-8F61-147B-B1DD-159A5361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20% of digital ad budget re-allocated from Video to Stories ads</a:t>
            </a:r>
          </a:p>
          <a:p>
            <a:pPr marL="0" indent="0">
              <a:buNone/>
            </a:pPr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Pilot ad reallocation from France to US/India to test for 1 month</a:t>
            </a:r>
          </a:p>
          <a:p>
            <a:endParaRPr 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User Target data validation process to be improved</a:t>
            </a:r>
          </a:p>
        </p:txBody>
      </p:sp>
    </p:spTree>
    <p:extLst>
      <p:ext uri="{BB962C8B-B14F-4D97-AF65-F5344CB8AC3E}">
        <p14:creationId xmlns:p14="http://schemas.microsoft.com/office/powerpoint/2010/main" val="328260076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874</TotalTime>
  <Words>877</Words>
  <Application>Microsoft Office PowerPoint</Application>
  <PresentationFormat>Widescreen</PresentationFormat>
  <Paragraphs>168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 Light</vt:lpstr>
      <vt:lpstr>Trebuchet MS</vt:lpstr>
      <vt:lpstr>Wingdings 3</vt:lpstr>
      <vt:lpstr>Facet</vt:lpstr>
      <vt:lpstr>The Blueprint for  Smarter Advertising</vt:lpstr>
      <vt:lpstr>Table of Chapters</vt:lpstr>
      <vt:lpstr>Chapter 1: Overview &amp;  Problem Statement </vt:lpstr>
      <vt:lpstr>Audience</vt:lpstr>
      <vt:lpstr>Problem Statement</vt:lpstr>
      <vt:lpstr>Do you know the difference?</vt:lpstr>
      <vt:lpstr>Goals</vt:lpstr>
      <vt:lpstr>Chapter 2: Data Sources &amp; Methodology </vt:lpstr>
      <vt:lpstr>Data Source</vt:lpstr>
      <vt:lpstr>Methodology</vt:lpstr>
      <vt:lpstr>Chapter 3: Data Analysis &amp; Insights  </vt:lpstr>
      <vt:lpstr>Analysis: Conversion Rate &amp; Ad Impressions</vt:lpstr>
      <vt:lpstr>Analysis: Low Purchase Rate</vt:lpstr>
      <vt:lpstr>Analysis: Target vs Actual Users’ Age Group Segments</vt:lpstr>
      <vt:lpstr>Analysis: Relative CPA &amp; Advertisement Type</vt:lpstr>
      <vt:lpstr>Analysis: Countries &amp; CTR, CR &amp; CPA</vt:lpstr>
      <vt:lpstr>Correlation Analysis</vt:lpstr>
      <vt:lpstr>Summary</vt:lpstr>
      <vt:lpstr>Chapter 4: Predictive Modeling &amp; Demo </vt:lpstr>
      <vt:lpstr>Comparison of 2 Predictive Models</vt:lpstr>
      <vt:lpstr>Predicted Results by Countries</vt:lpstr>
      <vt:lpstr>Demo on Predicting Cost of Acquisition (CPA)  CPA Prediction</vt:lpstr>
      <vt:lpstr>Chapter 5: Model Assumptions &amp; Limitations </vt:lpstr>
      <vt:lpstr>Assumptions</vt:lpstr>
      <vt:lpstr>Limitations</vt:lpstr>
      <vt:lpstr>Chapter 6: Recommendations &amp;  Next Steps </vt:lpstr>
      <vt:lpstr>Business Recommendations</vt:lpstr>
      <vt:lpstr>Data &amp; Model Improvements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#ZHUO JIEPENG#</dc:creator>
  <cp:lastModifiedBy>#ZHUO JIEPENG#</cp:lastModifiedBy>
  <cp:revision>172</cp:revision>
  <dcterms:created xsi:type="dcterms:W3CDTF">2026-06-04T09:04:37Z</dcterms:created>
  <dcterms:modified xsi:type="dcterms:W3CDTF">2026-06-11T13:29:12Z</dcterms:modified>
</cp:coreProperties>
</file>